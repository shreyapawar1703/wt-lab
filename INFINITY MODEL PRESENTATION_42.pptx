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swald ExtraLight"/>
      <p:regular r:id="rId17"/>
      <p:bold r:id="rId18"/>
    </p:embeddedFont>
    <p:embeddedFont>
      <p:font typeface="Bebas Neue"/>
      <p:regular r:id="rId19"/>
    </p:embeddedFont>
    <p:embeddedFont>
      <p:font typeface="Oswald"/>
      <p:regular r:id="rId20"/>
      <p:bold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1">
          <p15:clr>
            <a:srgbClr val="9AA0A6"/>
          </p15:clr>
        </p15:guide>
        <p15:guide id="2" orient="horz" pos="73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1" orient="horz"/>
        <p:guide pos="73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22" Type="http://schemas.openxmlformats.org/officeDocument/2006/relationships/font" Target="fonts/DMSans-regular.fntdata"/><Relationship Id="rId21" Type="http://schemas.openxmlformats.org/officeDocument/2006/relationships/font" Target="fonts/Oswald-bold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ExtraLight-regular.fntdata"/><Relationship Id="rId16" Type="http://schemas.openxmlformats.org/officeDocument/2006/relationships/slide" Target="slides/slide11.xml"/><Relationship Id="rId19" Type="http://schemas.openxmlformats.org/officeDocument/2006/relationships/font" Target="fonts/BebasNeue-regular.fntdata"/><Relationship Id="rId18" Type="http://schemas.openxmlformats.org/officeDocument/2006/relationships/font" Target="fonts/OswaldExtra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2926e863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a2926e863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2926e863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a2926e863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2926e863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a2926e863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2926e863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a2926e863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2926e863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a2926e863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2926e863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a2926e863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5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 rot="5400000">
            <a:off x="7002555" y="-662466"/>
            <a:ext cx="1673084" cy="3614193"/>
            <a:chOff x="7350442" y="2608992"/>
            <a:chExt cx="777239" cy="1673160"/>
          </a:xfrm>
        </p:grpSpPr>
        <p:sp>
          <p:nvSpPr>
            <p:cNvPr id="12" name="Google Shape;12;p2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849288" y="1728870"/>
            <a:ext cx="233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2" type="title"/>
          </p:nvPr>
        </p:nvSpPr>
        <p:spPr>
          <a:xfrm>
            <a:off x="695771" y="1749900"/>
            <a:ext cx="86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1849288" y="2105212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3" type="title"/>
          </p:nvPr>
        </p:nvSpPr>
        <p:spPr>
          <a:xfrm>
            <a:off x="6111838" y="1730349"/>
            <a:ext cx="233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4" type="title"/>
          </p:nvPr>
        </p:nvSpPr>
        <p:spPr>
          <a:xfrm>
            <a:off x="4961874" y="1749900"/>
            <a:ext cx="86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4"/>
          <p:cNvSpPr txBox="1"/>
          <p:nvPr>
            <p:ph idx="5" type="subTitle"/>
          </p:nvPr>
        </p:nvSpPr>
        <p:spPr>
          <a:xfrm>
            <a:off x="6111838" y="2110350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6" type="title"/>
          </p:nvPr>
        </p:nvSpPr>
        <p:spPr>
          <a:xfrm>
            <a:off x="1853038" y="3419068"/>
            <a:ext cx="233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7" type="title"/>
          </p:nvPr>
        </p:nvSpPr>
        <p:spPr>
          <a:xfrm>
            <a:off x="695771" y="3448775"/>
            <a:ext cx="86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4"/>
          <p:cNvSpPr txBox="1"/>
          <p:nvPr>
            <p:ph idx="8" type="subTitle"/>
          </p:nvPr>
        </p:nvSpPr>
        <p:spPr>
          <a:xfrm>
            <a:off x="1853038" y="3800225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9" type="title"/>
          </p:nvPr>
        </p:nvSpPr>
        <p:spPr>
          <a:xfrm>
            <a:off x="6111838" y="3421989"/>
            <a:ext cx="2336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3" type="title"/>
          </p:nvPr>
        </p:nvSpPr>
        <p:spPr>
          <a:xfrm>
            <a:off x="4961874" y="3453772"/>
            <a:ext cx="86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4"/>
          <p:cNvSpPr txBox="1"/>
          <p:nvPr>
            <p:ph idx="14" type="subTitle"/>
          </p:nvPr>
        </p:nvSpPr>
        <p:spPr>
          <a:xfrm>
            <a:off x="6111838" y="3797480"/>
            <a:ext cx="2336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5" type="title"/>
          </p:nvPr>
        </p:nvSpPr>
        <p:spPr>
          <a:xfrm>
            <a:off x="720000" y="539496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786775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4970850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178662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497085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2916875" y="1499525"/>
            <a:ext cx="3357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2916875" y="2308375"/>
            <a:ext cx="33579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1321350" y="1039750"/>
            <a:ext cx="38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1321350" y="1984800"/>
            <a:ext cx="386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⏣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49" name="Google Shape;49;p7"/>
          <p:cNvGrpSpPr/>
          <p:nvPr/>
        </p:nvGrpSpPr>
        <p:grpSpPr>
          <a:xfrm flipH="1">
            <a:off x="-1145294" y="-39521"/>
            <a:ext cx="2029371" cy="4383847"/>
            <a:chOff x="7350442" y="2608992"/>
            <a:chExt cx="777239" cy="1673160"/>
          </a:xfrm>
        </p:grpSpPr>
        <p:sp>
          <p:nvSpPr>
            <p:cNvPr id="50" name="Google Shape;50;p7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7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1584063" y="1543600"/>
            <a:ext cx="2337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1584063" y="1938600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title"/>
          </p:nvPr>
        </p:nvSpPr>
        <p:spPr>
          <a:xfrm>
            <a:off x="5704788" y="1543600"/>
            <a:ext cx="2340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5704788" y="1938600"/>
            <a:ext cx="23409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title"/>
          </p:nvPr>
        </p:nvSpPr>
        <p:spPr>
          <a:xfrm>
            <a:off x="3644425" y="3290400"/>
            <a:ext cx="2337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3644425" y="3682009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1495425" y="1599975"/>
            <a:ext cx="132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1" type="subTitle"/>
          </p:nvPr>
        </p:nvSpPr>
        <p:spPr>
          <a:xfrm>
            <a:off x="1495425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9"/>
          <p:cNvSpPr txBox="1"/>
          <p:nvPr>
            <p:ph idx="2" type="title"/>
          </p:nvPr>
        </p:nvSpPr>
        <p:spPr>
          <a:xfrm>
            <a:off x="4211550" y="1599975"/>
            <a:ext cx="132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idx="3" type="subTitle"/>
          </p:nvPr>
        </p:nvSpPr>
        <p:spPr>
          <a:xfrm>
            <a:off x="4211550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4" type="title"/>
          </p:nvPr>
        </p:nvSpPr>
        <p:spPr>
          <a:xfrm>
            <a:off x="1495425" y="3329975"/>
            <a:ext cx="13221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5" type="subTitle"/>
          </p:nvPr>
        </p:nvSpPr>
        <p:spPr>
          <a:xfrm>
            <a:off x="1495425" y="3733325"/>
            <a:ext cx="13221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6" type="title"/>
          </p:nvPr>
        </p:nvSpPr>
        <p:spPr>
          <a:xfrm>
            <a:off x="4211550" y="3329974"/>
            <a:ext cx="1322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7" type="subTitle"/>
          </p:nvPr>
        </p:nvSpPr>
        <p:spPr>
          <a:xfrm>
            <a:off x="4211550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8" type="title"/>
          </p:nvPr>
        </p:nvSpPr>
        <p:spPr>
          <a:xfrm>
            <a:off x="6927550" y="1599975"/>
            <a:ext cx="132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9" type="subTitle"/>
          </p:nvPr>
        </p:nvSpPr>
        <p:spPr>
          <a:xfrm>
            <a:off x="6927675" y="2003838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13" type="title"/>
          </p:nvPr>
        </p:nvSpPr>
        <p:spPr>
          <a:xfrm>
            <a:off x="6927675" y="3329974"/>
            <a:ext cx="1322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14" type="subTitle"/>
          </p:nvPr>
        </p:nvSpPr>
        <p:spPr>
          <a:xfrm>
            <a:off x="6927675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15"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1713900" y="1458900"/>
            <a:ext cx="57162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1260875" y="3226350"/>
            <a:ext cx="37923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5540775" y="1840338"/>
            <a:ext cx="24219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6" name="Google Shape;86;p12"/>
          <p:cNvSpPr txBox="1"/>
          <p:nvPr>
            <p:ph idx="2" type="title"/>
          </p:nvPr>
        </p:nvSpPr>
        <p:spPr>
          <a:xfrm>
            <a:off x="4768453" y="1840338"/>
            <a:ext cx="5961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5514500" y="3055663"/>
            <a:ext cx="24219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8" name="Google Shape;88;p12"/>
          <p:cNvGrpSpPr/>
          <p:nvPr/>
        </p:nvGrpSpPr>
        <p:grpSpPr>
          <a:xfrm rot="5400000">
            <a:off x="976911" y="3061602"/>
            <a:ext cx="1683966" cy="3637785"/>
            <a:chOff x="7350442" y="2608992"/>
            <a:chExt cx="777239" cy="1673160"/>
          </a:xfrm>
        </p:grpSpPr>
        <p:sp>
          <p:nvSpPr>
            <p:cNvPr id="89" name="Google Shape;89;p12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2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2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2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2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2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2"/>
          <p:cNvGrpSpPr/>
          <p:nvPr/>
        </p:nvGrpSpPr>
        <p:grpSpPr>
          <a:xfrm flipH="1" rot="5400000">
            <a:off x="6568632" y="-1639800"/>
            <a:ext cx="1684044" cy="3637785"/>
            <a:chOff x="7350442" y="2608992"/>
            <a:chExt cx="777239" cy="1673160"/>
          </a:xfrm>
        </p:grpSpPr>
        <p:sp>
          <p:nvSpPr>
            <p:cNvPr id="98" name="Google Shape;98;p12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2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2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2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2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2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2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>
            <p:ph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2_1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2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4720925" y="539500"/>
            <a:ext cx="3191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grpSp>
        <p:nvGrpSpPr>
          <p:cNvPr id="114" name="Google Shape;114;p16"/>
          <p:cNvGrpSpPr/>
          <p:nvPr/>
        </p:nvGrpSpPr>
        <p:grpSpPr>
          <a:xfrm flipH="1" rot="-5399868">
            <a:off x="480934" y="-830736"/>
            <a:ext cx="2029371" cy="4383847"/>
            <a:chOff x="7350442" y="2608992"/>
            <a:chExt cx="777239" cy="1673160"/>
          </a:xfrm>
        </p:grpSpPr>
        <p:sp>
          <p:nvSpPr>
            <p:cNvPr id="115" name="Google Shape;115;p16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BLANK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972450" y="539500"/>
            <a:ext cx="7199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hasCustomPrompt="1" type="title"/>
          </p:nvPr>
        </p:nvSpPr>
        <p:spPr>
          <a:xfrm>
            <a:off x="713225" y="1536500"/>
            <a:ext cx="52260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4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6098700" y="3330525"/>
            <a:ext cx="23319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swald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28" name="Google Shape;128;p18"/>
          <p:cNvGrpSpPr/>
          <p:nvPr/>
        </p:nvGrpSpPr>
        <p:grpSpPr>
          <a:xfrm rot="5400000">
            <a:off x="6345490" y="-889971"/>
            <a:ext cx="1764332" cy="3811124"/>
            <a:chOff x="7350442" y="2608992"/>
            <a:chExt cx="777239" cy="1673160"/>
          </a:xfrm>
        </p:grpSpPr>
        <p:sp>
          <p:nvSpPr>
            <p:cNvPr id="129" name="Google Shape;129;p18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8"/>
          <p:cNvGrpSpPr/>
          <p:nvPr/>
        </p:nvGrpSpPr>
        <p:grpSpPr>
          <a:xfrm rot="-5400000">
            <a:off x="1007843" y="2135053"/>
            <a:ext cx="1737362" cy="3752898"/>
            <a:chOff x="7350442" y="2608992"/>
            <a:chExt cx="777239" cy="1673160"/>
          </a:xfrm>
        </p:grpSpPr>
        <p:sp>
          <p:nvSpPr>
            <p:cNvPr id="138" name="Google Shape;138;p18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752475" y="981075"/>
            <a:ext cx="1200150" cy="114300"/>
            <a:chOff x="752475" y="981075"/>
            <a:chExt cx="1200150" cy="114300"/>
          </a:xfrm>
        </p:grpSpPr>
        <p:sp>
          <p:nvSpPr>
            <p:cNvPr id="147" name="Google Shape;147;p18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5882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5882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5882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5882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5882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5882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5882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713225" y="730825"/>
            <a:ext cx="41658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2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>
            <a:off x="713225" y="1629825"/>
            <a:ext cx="4165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2" type="title"/>
          </p:nvPr>
        </p:nvSpPr>
        <p:spPr>
          <a:xfrm>
            <a:off x="4265050" y="2909950"/>
            <a:ext cx="41658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200">
                <a:solidFill>
                  <a:schemeClr val="accent1"/>
                </a:solidFill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58" name="Google Shape;158;p19"/>
          <p:cNvSpPr txBox="1"/>
          <p:nvPr>
            <p:ph idx="3" type="subTitle"/>
          </p:nvPr>
        </p:nvSpPr>
        <p:spPr>
          <a:xfrm>
            <a:off x="4265050" y="3817475"/>
            <a:ext cx="41658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59" name="Google Shape;159;p19"/>
          <p:cNvGrpSpPr/>
          <p:nvPr/>
        </p:nvGrpSpPr>
        <p:grpSpPr>
          <a:xfrm rot="5400000">
            <a:off x="6327004" y="-594849"/>
            <a:ext cx="1955378" cy="4224060"/>
            <a:chOff x="7350442" y="2608992"/>
            <a:chExt cx="777239" cy="1673160"/>
          </a:xfrm>
        </p:grpSpPr>
        <p:sp>
          <p:nvSpPr>
            <p:cNvPr id="160" name="Google Shape;160;p19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9"/>
          <p:cNvGrpSpPr/>
          <p:nvPr/>
        </p:nvGrpSpPr>
        <p:grpSpPr>
          <a:xfrm flipH="1" rot="-5400000">
            <a:off x="696504" y="1651201"/>
            <a:ext cx="1955378" cy="4224060"/>
            <a:chOff x="7350442" y="2608992"/>
            <a:chExt cx="777239" cy="1673160"/>
          </a:xfrm>
        </p:grpSpPr>
        <p:sp>
          <p:nvSpPr>
            <p:cNvPr id="169" name="Google Shape;169;p19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19"/>
          <p:cNvGrpSpPr/>
          <p:nvPr/>
        </p:nvGrpSpPr>
        <p:grpSpPr>
          <a:xfrm>
            <a:off x="4695775" y="4494275"/>
            <a:ext cx="1200150" cy="114300"/>
            <a:chOff x="752475" y="981075"/>
            <a:chExt cx="1200150" cy="114300"/>
          </a:xfrm>
        </p:grpSpPr>
        <p:sp>
          <p:nvSpPr>
            <p:cNvPr id="178" name="Google Shape;178;p19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9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1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idx="1" type="subTitle"/>
          </p:nvPr>
        </p:nvSpPr>
        <p:spPr>
          <a:xfrm>
            <a:off x="5381275" y="3173650"/>
            <a:ext cx="288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1_1_1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ctrTitle"/>
          </p:nvPr>
        </p:nvSpPr>
        <p:spPr>
          <a:xfrm>
            <a:off x="2429950" y="950150"/>
            <a:ext cx="42840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2425075" y="1828300"/>
            <a:ext cx="42939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91" name="Google Shape;191;p21"/>
          <p:cNvGrpSpPr/>
          <p:nvPr/>
        </p:nvGrpSpPr>
        <p:grpSpPr>
          <a:xfrm flipH="1" rot="10800000">
            <a:off x="7172094" y="843104"/>
            <a:ext cx="2029371" cy="4383847"/>
            <a:chOff x="7350442" y="2608992"/>
            <a:chExt cx="777239" cy="1673160"/>
          </a:xfrm>
        </p:grpSpPr>
        <p:sp>
          <p:nvSpPr>
            <p:cNvPr id="192" name="Google Shape;192;p21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21"/>
          <p:cNvGrpSpPr/>
          <p:nvPr/>
        </p:nvGrpSpPr>
        <p:grpSpPr>
          <a:xfrm flipH="1">
            <a:off x="-57431" y="4"/>
            <a:ext cx="2029371" cy="4383847"/>
            <a:chOff x="7350442" y="2608992"/>
            <a:chExt cx="777239" cy="1673160"/>
          </a:xfrm>
        </p:grpSpPr>
        <p:sp>
          <p:nvSpPr>
            <p:cNvPr id="201" name="Google Shape;201;p21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185738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2478750" y="3448025"/>
            <a:ext cx="41865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/>
              </a:rPr>
              <a:t>Freepik</a:t>
            </a:r>
            <a:endParaRPr b="1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idx="1" type="body"/>
          </p:nvPr>
        </p:nvSpPr>
        <p:spPr>
          <a:xfrm>
            <a:off x="713225" y="1164100"/>
            <a:ext cx="3392100" cy="3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4" name="Google Shape;214;p23"/>
          <p:cNvSpPr txBox="1"/>
          <p:nvPr>
            <p:ph idx="2" type="body"/>
          </p:nvPr>
        </p:nvSpPr>
        <p:spPr>
          <a:xfrm>
            <a:off x="5029625" y="1164100"/>
            <a:ext cx="3392100" cy="3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5" name="Google Shape;215;p23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_1_1_1">
    <p:bg>
      <p:bgPr>
        <a:gradFill>
          <a:gsLst>
            <a:gs pos="0">
              <a:schemeClr val="accent3"/>
            </a:gs>
            <a:gs pos="44000">
              <a:schemeClr val="accent4"/>
            </a:gs>
            <a:gs pos="100000">
              <a:schemeClr val="accent5"/>
            </a:gs>
          </a:gsLst>
          <a:lin ang="2698631" scaled="0"/>
        </a:gra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1_1_1_2">
    <p:bg>
      <p:bgPr>
        <a:gradFill>
          <a:gsLst>
            <a:gs pos="0">
              <a:schemeClr val="accent2"/>
            </a:gs>
            <a:gs pos="36000">
              <a:schemeClr val="accent4"/>
            </a:gs>
            <a:gs pos="100000">
              <a:schemeClr val="accent4"/>
            </a:gs>
          </a:gsLst>
          <a:lin ang="2698631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b="0" i="0" sz="3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ctrTitle"/>
          </p:nvPr>
        </p:nvSpPr>
        <p:spPr>
          <a:xfrm>
            <a:off x="593625" y="496650"/>
            <a:ext cx="39720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</a:pPr>
            <a:r>
              <a:rPr lang="en">
                <a:solidFill>
                  <a:schemeClr val="accent1"/>
                </a:solidFill>
              </a:rPr>
              <a:t>INFINITY MODEL</a:t>
            </a:r>
            <a:endParaRPr/>
          </a:p>
        </p:txBody>
      </p:sp>
      <p:sp>
        <p:nvSpPr>
          <p:cNvPr id="224" name="Google Shape;224;p27"/>
          <p:cNvSpPr txBox="1"/>
          <p:nvPr>
            <p:ph idx="1" type="subTitle"/>
          </p:nvPr>
        </p:nvSpPr>
        <p:spPr>
          <a:xfrm>
            <a:off x="645950" y="2489525"/>
            <a:ext cx="43590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By -  Shreya Pawar FYCS_42</a:t>
            </a:r>
            <a:endParaRPr/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3625" y="0"/>
            <a:ext cx="43923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DAY </a:t>
            </a:r>
            <a:r>
              <a:rPr lang="en">
                <a:solidFill>
                  <a:srgbClr val="00C3B1"/>
                </a:solidFill>
              </a:rPr>
              <a:t>01</a:t>
            </a:r>
            <a:endParaRPr>
              <a:solidFill>
                <a:srgbClr val="00C3B1"/>
              </a:solidFill>
            </a:endParaRPr>
          </a:p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/>
              <a:t>We learnt the simple attributes and structure of HTML: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&lt;!DOCTYPE html&gt;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&lt;html&gt;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&lt;head&gt;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&lt;title&gt; SAKEC &lt;/title&gt;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&lt;/head&gt;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&lt;body&gt;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&lt;p&gt; welcome in 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infinity model in 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&lt;b&gt; &lt;strong&gt; department of cyber security &lt;/strong&gt; &lt;/b&gt;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&lt;i&gt; &lt;ins&gt; Electronics and Telecommunication &lt;/ins&gt; &lt;/i&gt;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&lt;u&gt; AI &amp; DS &lt;/u&gt;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&lt;big&gt; Information Technology &lt;/big&gt;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&lt;small&gt; Computer Science &lt;/small&gt;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study in class 12&lt;sup&gt;th&lt;/sup&gt;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sodium bicarbonate NAHCO&lt;sub&gt;3&lt;/sub&gt;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&lt;br&gt; ICSE board,&lt;mark&gt; CBSE board &lt;/mark&gt; Maharashtra Board 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&lt;/p&gt;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&lt;/body&gt;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00">
                <a:highlight>
                  <a:schemeClr val="dk2"/>
                </a:highlight>
              </a:rPr>
              <a:t>&lt;/html&gt;</a:t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232" name="Google Shape;232;p28"/>
          <p:cNvGrpSpPr/>
          <p:nvPr/>
        </p:nvGrpSpPr>
        <p:grpSpPr>
          <a:xfrm>
            <a:off x="6185272" y="-67356"/>
            <a:ext cx="2793397" cy="6120921"/>
            <a:chOff x="7350442" y="2608992"/>
            <a:chExt cx="777239" cy="1673160"/>
          </a:xfrm>
        </p:grpSpPr>
        <p:sp>
          <p:nvSpPr>
            <p:cNvPr id="233" name="Google Shape;233;p28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9"/>
          <p:cNvGrpSpPr/>
          <p:nvPr/>
        </p:nvGrpSpPr>
        <p:grpSpPr>
          <a:xfrm rot="5400000">
            <a:off x="7055976" y="2017302"/>
            <a:ext cx="2029371" cy="4103592"/>
            <a:chOff x="7350442" y="2608992"/>
            <a:chExt cx="777239" cy="1673160"/>
          </a:xfrm>
        </p:grpSpPr>
        <p:sp>
          <p:nvSpPr>
            <p:cNvPr id="246" name="Google Shape;246;p29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29"/>
          <p:cNvSpPr txBox="1"/>
          <p:nvPr>
            <p:ph type="title"/>
          </p:nvPr>
        </p:nvSpPr>
        <p:spPr>
          <a:xfrm>
            <a:off x="984925" y="381400"/>
            <a:ext cx="38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MAIN </a:t>
            </a:r>
            <a:r>
              <a:rPr lang="en">
                <a:solidFill>
                  <a:schemeClr val="accent1"/>
                </a:solidFill>
              </a:rPr>
              <a:t>CONCEPTS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5" name="Google Shape;255;p29"/>
          <p:cNvSpPr txBox="1"/>
          <p:nvPr>
            <p:ph idx="1" type="body"/>
          </p:nvPr>
        </p:nvSpPr>
        <p:spPr>
          <a:xfrm>
            <a:off x="1151300" y="1163650"/>
            <a:ext cx="70200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LEARNT THE FOLLOWING ATTRIBUTES ON DAY 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&lt;h1 style = "color:blue;"&gt;  - </a:t>
            </a:r>
            <a:r>
              <a:rPr lang="en" sz="1050"/>
              <a:t>this gives a h1 heading with blue color.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&lt;p style = "color:red;"&gt; - </a:t>
            </a:r>
            <a:r>
              <a:rPr lang="en" sz="1050"/>
              <a:t>this gives a</a:t>
            </a:r>
            <a:r>
              <a:rPr lang="en" sz="1050"/>
              <a:t> red paragraph.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&lt;mark&gt; - </a:t>
            </a:r>
            <a:r>
              <a:rPr lang="en" sz="1050"/>
              <a:t>this gives a highlighted tex</a:t>
            </a:r>
            <a:r>
              <a:rPr lang="en" sz="1050"/>
              <a:t>t.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&lt;sub&gt; - </a:t>
            </a:r>
            <a:r>
              <a:rPr lang="en" sz="1000"/>
              <a:t>this displays text as subscript.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&lt;sup&gt; - </a:t>
            </a:r>
            <a:r>
              <a:rPr lang="en" sz="1000"/>
              <a:t>this displays text as superscript.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&lt;b&gt; &lt;strong&gt; - </a:t>
            </a:r>
            <a:r>
              <a:rPr lang="en" sz="1050"/>
              <a:t>this gives a bold text.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&lt;i&gt; &lt;ins&gt; - </a:t>
            </a:r>
            <a:r>
              <a:rPr lang="en" sz="1000"/>
              <a:t>this displays text in italics.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&lt;u&gt; - </a:t>
            </a:r>
            <a:r>
              <a:rPr lang="en" sz="1000"/>
              <a:t>this displays text in underline.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&lt;br&gt; - </a:t>
            </a:r>
            <a:r>
              <a:rPr lang="en" sz="1050"/>
              <a:t>tag is used to insert a line break within a block of text.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&lt;ul&gt; - </a:t>
            </a:r>
            <a:r>
              <a:rPr lang="en" sz="1050"/>
              <a:t>tag is used for unordered list.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&lt;ol&gt; - </a:t>
            </a:r>
            <a:r>
              <a:rPr lang="en" sz="1050"/>
              <a:t>tag is used for ordered list.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&lt;img&gt; - </a:t>
            </a:r>
            <a:r>
              <a:rPr lang="en" sz="1050"/>
              <a:t>tag is used to insert an image.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&lt;a href&gt; - </a:t>
            </a:r>
            <a:r>
              <a:rPr lang="en" sz="1050"/>
              <a:t>tag</a:t>
            </a:r>
            <a:r>
              <a:rPr lang="en"/>
              <a:t> </a:t>
            </a:r>
            <a:r>
              <a:rPr lang="en" sz="1050"/>
              <a:t>specifies the URL of the page the link goes to.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30"/>
          <p:cNvGrpSpPr/>
          <p:nvPr/>
        </p:nvGrpSpPr>
        <p:grpSpPr>
          <a:xfrm rot="5400000">
            <a:off x="6793563" y="-1154209"/>
            <a:ext cx="959680" cy="3741186"/>
            <a:chOff x="7557897" y="2608992"/>
            <a:chExt cx="429195" cy="1673160"/>
          </a:xfrm>
        </p:grpSpPr>
        <p:sp>
          <p:nvSpPr>
            <p:cNvPr id="261" name="Google Shape;261;p30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6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30"/>
          <p:cNvSpPr txBox="1"/>
          <p:nvPr>
            <p:ph idx="6"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EXPERIMENTS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65" name="Google Shape;2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000" y="1163650"/>
            <a:ext cx="3133824" cy="168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650" y="994075"/>
            <a:ext cx="3324125" cy="178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725" y="2948550"/>
            <a:ext cx="3799526" cy="204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0925" y="2895525"/>
            <a:ext cx="3799526" cy="2042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1"/>
          <p:cNvGrpSpPr/>
          <p:nvPr/>
        </p:nvGrpSpPr>
        <p:grpSpPr>
          <a:xfrm rot="5400000">
            <a:off x="6793563" y="-1154209"/>
            <a:ext cx="959680" cy="3741186"/>
            <a:chOff x="7557897" y="2608992"/>
            <a:chExt cx="429195" cy="1673160"/>
          </a:xfrm>
        </p:grpSpPr>
        <p:sp>
          <p:nvSpPr>
            <p:cNvPr id="274" name="Google Shape;274;p31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31"/>
          <p:cNvSpPr txBox="1"/>
          <p:nvPr>
            <p:ph idx="6"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EXPERIMENTS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278" name="Google Shape;278;p31"/>
          <p:cNvGrpSpPr/>
          <p:nvPr/>
        </p:nvGrpSpPr>
        <p:grpSpPr>
          <a:xfrm>
            <a:off x="376100" y="3084525"/>
            <a:ext cx="1600800" cy="1600800"/>
            <a:chOff x="720000" y="3089050"/>
            <a:chExt cx="1600800" cy="1600800"/>
          </a:xfrm>
        </p:grpSpPr>
        <p:sp>
          <p:nvSpPr>
            <p:cNvPr id="279" name="Google Shape;279;p31"/>
            <p:cNvSpPr/>
            <p:nvPr/>
          </p:nvSpPr>
          <p:spPr>
            <a:xfrm>
              <a:off x="720000" y="3089050"/>
              <a:ext cx="1600800" cy="16008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 rot="5400000">
              <a:off x="823981" y="3192879"/>
              <a:ext cx="1392900" cy="1392900"/>
            </a:xfrm>
            <a:prstGeom prst="blockArc">
              <a:avLst>
                <a:gd fmla="val 7558344" name="adj1"/>
                <a:gd fmla="val 1850511" name="adj2"/>
                <a:gd fmla="val 9051" name="adj3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386833" y="3751320"/>
              <a:ext cx="267300" cy="267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 rot="-3600057">
              <a:off x="1109401" y="3473975"/>
              <a:ext cx="822023" cy="822023"/>
            </a:xfrm>
            <a:prstGeom prst="blockArc">
              <a:avLst>
                <a:gd fmla="val 7558344" name="adj1"/>
                <a:gd fmla="val 1861461" name="adj2"/>
                <a:gd fmla="val 12146" name="adj3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31"/>
          <p:cNvGrpSpPr/>
          <p:nvPr/>
        </p:nvGrpSpPr>
        <p:grpSpPr>
          <a:xfrm>
            <a:off x="7090899" y="3038297"/>
            <a:ext cx="1902600" cy="1902600"/>
            <a:chOff x="6672249" y="2933622"/>
            <a:chExt cx="1902600" cy="1902600"/>
          </a:xfrm>
        </p:grpSpPr>
        <p:sp>
          <p:nvSpPr>
            <p:cNvPr id="284" name="Google Shape;284;p31"/>
            <p:cNvSpPr/>
            <p:nvPr/>
          </p:nvSpPr>
          <p:spPr>
            <a:xfrm>
              <a:off x="6823200" y="3084575"/>
              <a:ext cx="1600800" cy="16008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 rot="-9000337">
              <a:off x="6927131" y="3188503"/>
              <a:ext cx="1392836" cy="1392836"/>
            </a:xfrm>
            <a:prstGeom prst="blockArc">
              <a:avLst>
                <a:gd fmla="val 7558344" name="adj1"/>
                <a:gd fmla="val 1850511" name="adj2"/>
                <a:gd fmla="val 9051" name="adj3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7490033" y="3746845"/>
              <a:ext cx="267300" cy="267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Oswald ExtraLight"/>
                <a:ea typeface="Oswald ExtraLight"/>
                <a:cs typeface="Oswald ExtraLight"/>
                <a:sym typeface="Oswald ExtraLight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 rot="1799943">
              <a:off x="7212526" y="3469434"/>
              <a:ext cx="822023" cy="822023"/>
            </a:xfrm>
            <a:prstGeom prst="blockArc">
              <a:avLst>
                <a:gd fmla="val 7558344" name="adj1"/>
                <a:gd fmla="val 1861461" name="adj2"/>
                <a:gd fmla="val 12146" name="adj3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chemeClr val="accent1">
                  <a:alpha val="498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8" name="Google Shape;2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400" y="1355500"/>
            <a:ext cx="4992500" cy="2681150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DAY </a:t>
            </a:r>
            <a:r>
              <a:rPr lang="en">
                <a:solidFill>
                  <a:srgbClr val="00C3B1"/>
                </a:solidFill>
              </a:rPr>
              <a:t>02</a:t>
            </a:r>
            <a:endParaRPr>
              <a:solidFill>
                <a:srgbClr val="00C3B1"/>
              </a:solidFill>
            </a:endParaRPr>
          </a:p>
        </p:txBody>
      </p:sp>
      <p:sp>
        <p:nvSpPr>
          <p:cNvPr id="294" name="Google Shape;294;p32"/>
          <p:cNvSpPr txBox="1"/>
          <p:nvPr>
            <p:ph idx="1" type="body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/>
              <a:t>We learnt the FORM in HTML: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&lt;title&gt; Form &lt;/title&gt;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&lt;body bgcolor="#ADD8E6"&gt;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&lt;input type="text" name="name"placeholder="enter your name"&gt;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&lt;input type="password" name="password"placeholder="enter your password"&gt;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&lt;input type="submit"value="sign in"&gt;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10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sz="10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1000">
              <a:highlight>
                <a:schemeClr val="dk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295" name="Google Shape;295;p32"/>
          <p:cNvGrpSpPr/>
          <p:nvPr/>
        </p:nvGrpSpPr>
        <p:grpSpPr>
          <a:xfrm>
            <a:off x="6609408" y="-67356"/>
            <a:ext cx="2825575" cy="6120921"/>
            <a:chOff x="7350442" y="2608992"/>
            <a:chExt cx="777239" cy="1673160"/>
          </a:xfrm>
        </p:grpSpPr>
        <p:sp>
          <p:nvSpPr>
            <p:cNvPr id="296" name="Google Shape;296;p32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2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32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2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DAY </a:t>
            </a:r>
            <a:r>
              <a:rPr lang="en">
                <a:solidFill>
                  <a:srgbClr val="00C3B1"/>
                </a:solidFill>
              </a:rPr>
              <a:t>02</a:t>
            </a:r>
            <a:endParaRPr>
              <a:solidFill>
                <a:srgbClr val="00C3B1"/>
              </a:solidFill>
            </a:endParaRPr>
          </a:p>
        </p:txBody>
      </p:sp>
      <p:sp>
        <p:nvSpPr>
          <p:cNvPr id="309" name="Google Shape;309;p33"/>
          <p:cNvSpPr txBox="1"/>
          <p:nvPr>
            <p:ph idx="1" type="body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/>
              <a:t>We learnt the TABLE in HTML: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&lt;title&gt; Infinity Model Table &lt;/title&gt;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&lt;body bgcolor="#ADD8E6"&gt;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&lt;table border="2" style="width:100%"; text-align:center;border-collapse:collapse;"&gt;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&lt;tr style="background-color:pink;"&gt;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&lt;th&gt;Name&lt;/th&gt;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&lt;th&gt;Father's Name&lt;/th&gt;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&lt;th&gt;Result&lt;/th&gt;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&lt;td&gt;Shreya&lt;/td&gt;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&lt;td&gt;Ganesh Pawar&lt;/td&gt;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&lt;td&gt;Pass&lt;/td&gt;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&lt;td&gt;Rahul&lt;/td&gt;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&lt;td&gt;Dinesh Gupta&lt;/td&gt;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&lt;td&gt;Fail&lt;/td&gt;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&lt;td&gt;Saiya&lt;/td&gt;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&lt;td&gt;Gigdesh Rana&lt;/td&gt;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&lt;td&gt;Pass&lt;/td&gt;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7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sz="7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en" sz="650">
                <a:highlight>
                  <a:schemeClr val="dk2"/>
                </a:highlight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sz="6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650">
              <a:highlight>
                <a:schemeClr val="dk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sz="800"/>
          </a:p>
        </p:txBody>
      </p:sp>
      <p:grpSp>
        <p:nvGrpSpPr>
          <p:cNvPr id="310" name="Google Shape;310;p33"/>
          <p:cNvGrpSpPr/>
          <p:nvPr/>
        </p:nvGrpSpPr>
        <p:grpSpPr>
          <a:xfrm>
            <a:off x="6609408" y="-67356"/>
            <a:ext cx="2825575" cy="6120921"/>
            <a:chOff x="7350442" y="2608992"/>
            <a:chExt cx="777239" cy="1673160"/>
          </a:xfrm>
        </p:grpSpPr>
        <p:sp>
          <p:nvSpPr>
            <p:cNvPr id="311" name="Google Shape;311;p33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33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3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3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3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33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33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4"/>
          <p:cNvGrpSpPr/>
          <p:nvPr/>
        </p:nvGrpSpPr>
        <p:grpSpPr>
          <a:xfrm rot="5400000">
            <a:off x="7055976" y="2017302"/>
            <a:ext cx="2029371" cy="4103592"/>
            <a:chOff x="7350442" y="2608992"/>
            <a:chExt cx="777239" cy="1673160"/>
          </a:xfrm>
        </p:grpSpPr>
        <p:sp>
          <p:nvSpPr>
            <p:cNvPr id="324" name="Google Shape;324;p34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34"/>
          <p:cNvSpPr txBox="1"/>
          <p:nvPr>
            <p:ph type="title"/>
          </p:nvPr>
        </p:nvSpPr>
        <p:spPr>
          <a:xfrm>
            <a:off x="984925" y="381400"/>
            <a:ext cx="386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MAIN </a:t>
            </a:r>
            <a:r>
              <a:rPr lang="en">
                <a:solidFill>
                  <a:schemeClr val="accent1"/>
                </a:solidFill>
              </a:rPr>
              <a:t>CONCEPTS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3" name="Google Shape;333;p34"/>
          <p:cNvSpPr txBox="1"/>
          <p:nvPr>
            <p:ph idx="1" type="body"/>
          </p:nvPr>
        </p:nvSpPr>
        <p:spPr>
          <a:xfrm>
            <a:off x="1151300" y="1163650"/>
            <a:ext cx="70200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WE LEARNT THE FOLLOWING ATTRIBUTES ON DAY 2 -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&lt;form&gt;  - </a:t>
            </a:r>
            <a:r>
              <a:rPr lang="en" sz="1050"/>
              <a:t>this is used to create an HTML form for user input.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&lt;fieldset&gt;</a:t>
            </a: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" sz="1050"/>
              <a:t>tag is used to group related elements within a web form.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&lt;legend&gt;</a:t>
            </a: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" sz="1050"/>
              <a:t> tag is used to define a caption or title for the content within a &lt;fieldset&gt; element.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&lt;input type&gt;</a:t>
            </a: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" sz="1000"/>
              <a:t>tag is a fundamental element used within forms to collect user input.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" sz="1000"/>
              <a:t>tag is used to create a table, which displays data in a structured format of rows and columns</a:t>
            </a:r>
            <a:r>
              <a:rPr lang="en" sz="1000"/>
              <a:t>.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" sz="1050"/>
              <a:t>this </a:t>
            </a:r>
            <a:r>
              <a:rPr lang="en" sz="1050"/>
              <a:t>is used to define a row within an HTML.</a:t>
            </a:r>
            <a:endParaRPr sz="105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&lt;th&gt;</a:t>
            </a: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" sz="1000"/>
              <a:t>tag defines a table header cell.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&lt;td&gt;</a:t>
            </a: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" sz="1000"/>
              <a:t> tag represents a table data cell.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⏣"/>
            </a:pPr>
            <a:r>
              <a:rPr lang="en" sz="1050">
                <a:latin typeface="Courier New"/>
                <a:ea typeface="Courier New"/>
                <a:cs typeface="Courier New"/>
                <a:sym typeface="Courier New"/>
              </a:rPr>
              <a:t>&lt;style&gt; - </a:t>
            </a:r>
            <a:r>
              <a:rPr lang="en" sz="1050"/>
              <a:t>tag is used to define internal CSS stylesheets </a:t>
            </a:r>
            <a:endParaRPr sz="10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                       directly within an HTML document.</a:t>
            </a:r>
            <a:endParaRPr sz="10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35"/>
          <p:cNvGrpSpPr/>
          <p:nvPr/>
        </p:nvGrpSpPr>
        <p:grpSpPr>
          <a:xfrm rot="5400000">
            <a:off x="7376688" y="2196266"/>
            <a:ext cx="959680" cy="3741186"/>
            <a:chOff x="7557897" y="2608992"/>
            <a:chExt cx="429195" cy="1673160"/>
          </a:xfrm>
        </p:grpSpPr>
        <p:sp>
          <p:nvSpPr>
            <p:cNvPr id="339" name="Google Shape;339;p35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6670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35"/>
          <p:cNvSpPr txBox="1"/>
          <p:nvPr>
            <p:ph idx="6" type="title"/>
          </p:nvPr>
        </p:nvSpPr>
        <p:spPr>
          <a:xfrm>
            <a:off x="720000" y="539500"/>
            <a:ext cx="77109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EXPERIMENTS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43" name="Google Shape;3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75" y="1115500"/>
            <a:ext cx="3649651" cy="196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5625" y="1115498"/>
            <a:ext cx="3551952" cy="190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6950" y="3186100"/>
            <a:ext cx="3277258" cy="176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>
            <p:ph type="title"/>
          </p:nvPr>
        </p:nvSpPr>
        <p:spPr>
          <a:xfrm>
            <a:off x="720000" y="2160575"/>
            <a:ext cx="7704000" cy="1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DAY 03</a:t>
            </a:r>
            <a:r>
              <a:rPr lang="en">
                <a:solidFill>
                  <a:srgbClr val="00C3B1"/>
                </a:solidFill>
              </a:rPr>
              <a:t> - PRESENTATION</a:t>
            </a:r>
            <a:endParaRPr>
              <a:solidFill>
                <a:srgbClr val="00C3B1"/>
              </a:solidFill>
            </a:endParaRPr>
          </a:p>
        </p:txBody>
      </p:sp>
      <p:grpSp>
        <p:nvGrpSpPr>
          <p:cNvPr id="351" name="Google Shape;351;p36"/>
          <p:cNvGrpSpPr/>
          <p:nvPr/>
        </p:nvGrpSpPr>
        <p:grpSpPr>
          <a:xfrm>
            <a:off x="6609408" y="-67356"/>
            <a:ext cx="2825575" cy="6120921"/>
            <a:chOff x="7350442" y="2608992"/>
            <a:chExt cx="777239" cy="1673160"/>
          </a:xfrm>
        </p:grpSpPr>
        <p:sp>
          <p:nvSpPr>
            <p:cNvPr id="352" name="Google Shape;352;p36"/>
            <p:cNvSpPr/>
            <p:nvPr/>
          </p:nvSpPr>
          <p:spPr>
            <a:xfrm>
              <a:off x="7486745" y="2608992"/>
              <a:ext cx="300894" cy="898874"/>
            </a:xfrm>
            <a:custGeom>
              <a:rect b="b" l="l" r="r" t="t"/>
              <a:pathLst>
                <a:path extrusionOk="0" h="898874" w="300894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7430357" y="3185731"/>
              <a:ext cx="149161" cy="440054"/>
            </a:xfrm>
            <a:custGeom>
              <a:rect b="b" l="l" r="r" t="t"/>
              <a:pathLst>
                <a:path extrusionOk="0" h="440054" w="149161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7350442" y="2713767"/>
              <a:ext cx="389000" cy="777335"/>
            </a:xfrm>
            <a:custGeom>
              <a:rect b="b" l="l" r="r" t="t"/>
              <a:pathLst>
                <a:path extrusionOk="0" h="777335" w="38900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860696" y="2608992"/>
              <a:ext cx="266985" cy="1341405"/>
            </a:xfrm>
            <a:custGeom>
              <a:rect b="b" l="l" r="r" t="t"/>
              <a:pathLst>
                <a:path extrusionOk="0" h="1341405" w="266985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7616094" y="2608992"/>
              <a:ext cx="370998" cy="1562195"/>
            </a:xfrm>
            <a:custGeom>
              <a:rect b="b" l="l" r="r" t="t"/>
              <a:pathLst>
                <a:path extrusionOk="0" h="1562195" w="370998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666005" y="3837621"/>
              <a:ext cx="75628" cy="444531"/>
            </a:xfrm>
            <a:custGeom>
              <a:rect b="b" l="l" r="r" t="t"/>
              <a:pathLst>
                <a:path extrusionOk="0" h="444531" w="75628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7350442" y="3539870"/>
              <a:ext cx="240982" cy="701039"/>
            </a:xfrm>
            <a:custGeom>
              <a:rect b="b" l="l" r="r" t="t"/>
              <a:pathLst>
                <a:path extrusionOk="0" h="701039" w="240982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7557897" y="2823590"/>
              <a:ext cx="322706" cy="857440"/>
            </a:xfrm>
            <a:custGeom>
              <a:rect b="b" l="l" r="r" t="t"/>
              <a:pathLst>
                <a:path extrusionOk="0" h="857440" w="322706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98360" rotWithShape="0" algn="bl" dir="5400000" dist="28415">
                <a:schemeClr val="accent1">
                  <a:alpha val="66670"/>
                </a:schemeClr>
              </a:outerShdw>
            </a:effectLst>
          </p:spPr>
          <p:txBody>
            <a:bodyPr anchorCtr="0" anchor="ctr" bIns="68175" lIns="136375" spcFirstLastPara="1" rIns="136375" wrap="square" tIns="68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5"/>
                <a:buFont typeface="Arial"/>
                <a:buNone/>
              </a:pPr>
              <a:r>
                <a:t/>
              </a:r>
              <a:endParaRPr b="0" i="0" sz="26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/>
          <p:nvPr/>
        </p:nvSpPr>
        <p:spPr>
          <a:xfrm>
            <a:off x="6366850" y="0"/>
            <a:ext cx="4358174" cy="4821045"/>
          </a:xfrm>
          <a:custGeom>
            <a:rect b="b" l="l" r="r" t="t"/>
            <a:pathLst>
              <a:path extrusionOk="0" h="141245" w="127684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rotWithShape="0" algn="bl" dir="5400000" dist="19050">
              <a:schemeClr val="accent1">
                <a:alpha val="6667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7"/>
          <p:cNvSpPr/>
          <p:nvPr/>
        </p:nvSpPr>
        <p:spPr>
          <a:xfrm rot="10800000">
            <a:off x="-1465862" y="161225"/>
            <a:ext cx="4358174" cy="4821045"/>
          </a:xfrm>
          <a:custGeom>
            <a:rect b="b" l="l" r="r" t="t"/>
            <a:pathLst>
              <a:path extrusionOk="0" h="141245" w="127684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rotWithShape="0" algn="bl" dir="5400000" dist="19050">
              <a:schemeClr val="accent1">
                <a:alpha val="6667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7"/>
          <p:cNvSpPr txBox="1"/>
          <p:nvPr>
            <p:ph type="title"/>
          </p:nvPr>
        </p:nvSpPr>
        <p:spPr>
          <a:xfrm>
            <a:off x="1713900" y="1458900"/>
            <a:ext cx="57162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</a:pPr>
            <a:r>
              <a:rPr lang="en">
                <a:solidFill>
                  <a:schemeClr val="accent1"/>
                </a:solidFill>
              </a:rPr>
              <a:t>THANK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</a:pPr>
            <a:r>
              <a:rPr lang="en"/>
              <a:t>YOU</a:t>
            </a:r>
            <a:endParaRPr/>
          </a:p>
        </p:txBody>
      </p:sp>
      <p:grpSp>
        <p:nvGrpSpPr>
          <p:cNvPr id="367" name="Google Shape;367;p37"/>
          <p:cNvGrpSpPr/>
          <p:nvPr/>
        </p:nvGrpSpPr>
        <p:grpSpPr>
          <a:xfrm>
            <a:off x="3971925" y="3938450"/>
            <a:ext cx="1200150" cy="114300"/>
            <a:chOff x="752475" y="981075"/>
            <a:chExt cx="1200150" cy="114300"/>
          </a:xfrm>
        </p:grpSpPr>
        <p:sp>
          <p:nvSpPr>
            <p:cNvPr id="368" name="Google Shape;368;p37"/>
            <p:cNvSpPr/>
            <p:nvPr/>
          </p:nvSpPr>
          <p:spPr>
            <a:xfrm>
              <a:off x="752475" y="981075"/>
              <a:ext cx="114300" cy="114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784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9334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784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11144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784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129540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784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1476375" y="981075"/>
              <a:ext cx="114300" cy="1143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00025" rotWithShape="0" algn="bl" dir="5400000" dist="19050">
                <a:schemeClr val="accent1">
                  <a:alpha val="6784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1657350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784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1838325" y="9810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00025" rotWithShape="0" algn="bl" dir="5400000" dist="19050">
                <a:schemeClr val="accent1">
                  <a:alpha val="6784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Project Proposal Minitheme by Slidesgo">
  <a:themeElements>
    <a:clrScheme name="Simple Light">
      <a:dk1>
        <a:srgbClr val="FFFFFF"/>
      </a:dk1>
      <a:lt1>
        <a:srgbClr val="E0E0E0"/>
      </a:lt1>
      <a:dk2>
        <a:srgbClr val="666666"/>
      </a:dk2>
      <a:lt2>
        <a:srgbClr val="000000"/>
      </a:lt2>
      <a:accent1>
        <a:srgbClr val="96FFF3"/>
      </a:accent1>
      <a:accent2>
        <a:srgbClr val="8F1EA0"/>
      </a:accent2>
      <a:accent3>
        <a:srgbClr val="3DC6FF"/>
      </a:accent3>
      <a:accent4>
        <a:srgbClr val="2619AA"/>
      </a:accent4>
      <a:accent5>
        <a:srgbClr val="190057"/>
      </a:accent5>
      <a:accent6>
        <a:srgbClr val="F13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